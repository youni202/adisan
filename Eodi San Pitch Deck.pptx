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76240" y="1409700"/>
            <a:ext cx="159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어디산</a:t>
            </a:r>
            <a:endParaRPr lang="en-US" sz="4500" dirty="0"/>
          </a:p>
        </p:txBody>
      </p:sp>
      <p:sp>
        <p:nvSpPr>
          <p:cNvPr id="4" name="Text 1"/>
          <p:cNvSpPr/>
          <p:nvPr/>
        </p:nvSpPr>
        <p:spPr>
          <a:xfrm>
            <a:off x="3321248" y="2247900"/>
            <a:ext cx="2501354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로컬 농산물 직거래 플랫폼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085654" y="2886075"/>
            <a:ext cx="297254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투명한 출처, 신선한 맛, 신뢰하는 거래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772495" y="3543300"/>
            <a:ext cx="15990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Seed 투자 피칭 | 2026년 1월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561207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시장의 문제점 (Problem)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09600" y="2201168"/>
            <a:ext cx="37338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88"/>
              </a:lnSpc>
              <a:buNone/>
            </a:pPr>
            <a:r>
              <a:rPr lang="en-US" sz="132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소비자 입장</a:t>
            </a:r>
            <a:endParaRPr lang="en-US" sz="1320" dirty="0"/>
          </a:p>
        </p:txBody>
      </p:sp>
      <p:sp>
        <p:nvSpPr>
          <p:cNvPr id="5" name="Text 2"/>
          <p:cNvSpPr/>
          <p:nvPr/>
        </p:nvSpPr>
        <p:spPr>
          <a:xfrm>
            <a:off x="609600" y="2515493"/>
            <a:ext cx="3733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26"/>
              </a:lnSpc>
              <a:buNone/>
            </a:pPr>
            <a:r>
              <a:rPr lang="en-US" sz="114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고가의 마진 (도매→소매)</a:t>
            </a:r>
            <a:endParaRPr lang="en-US" sz="1140" dirty="0"/>
          </a:p>
        </p:txBody>
      </p:sp>
      <p:sp>
        <p:nvSpPr>
          <p:cNvPr id="6" name="Text 3"/>
          <p:cNvSpPr/>
          <p:nvPr/>
        </p:nvSpPr>
        <p:spPr>
          <a:xfrm>
            <a:off x="609600" y="2725043"/>
            <a:ext cx="3733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26"/>
              </a:lnSpc>
              <a:buNone/>
            </a:pPr>
            <a:r>
              <a:rPr lang="en-US" sz="114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신선도 저하 (3~7일 경과)</a:t>
            </a:r>
            <a:endParaRPr lang="en-US" sz="1140" dirty="0"/>
          </a:p>
        </p:txBody>
      </p:sp>
      <p:sp>
        <p:nvSpPr>
          <p:cNvPr id="7" name="Text 4"/>
          <p:cNvSpPr/>
          <p:nvPr/>
        </p:nvSpPr>
        <p:spPr>
          <a:xfrm>
            <a:off x="609600" y="2934593"/>
            <a:ext cx="3733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26"/>
              </a:lnSpc>
              <a:buNone/>
            </a:pPr>
            <a:r>
              <a:rPr lang="en-US" sz="114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출처 불명확 (원산지 표시만)</a:t>
            </a:r>
            <a:endParaRPr lang="en-US" sz="1140" dirty="0"/>
          </a:p>
        </p:txBody>
      </p:sp>
      <p:sp>
        <p:nvSpPr>
          <p:cNvPr id="8" name="Text 5"/>
          <p:cNvSpPr/>
          <p:nvPr/>
        </p:nvSpPr>
        <p:spPr>
          <a:xfrm>
            <a:off x="609600" y="3144143"/>
            <a:ext cx="3733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26"/>
              </a:lnSpc>
              <a:buNone/>
            </a:pPr>
            <a:r>
              <a:rPr lang="en-US" sz="114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신뢰성 낮음</a:t>
            </a:r>
            <a:endParaRPr lang="en-US" sz="1140" dirty="0"/>
          </a:p>
        </p:txBody>
      </p:sp>
      <p:sp>
        <p:nvSpPr>
          <p:cNvPr id="9" name="Text 6"/>
          <p:cNvSpPr/>
          <p:nvPr/>
        </p:nvSpPr>
        <p:spPr>
          <a:xfrm>
            <a:off x="4800600" y="2201168"/>
            <a:ext cx="37338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88"/>
              </a:lnSpc>
              <a:buNone/>
            </a:pPr>
            <a:r>
              <a:rPr lang="en-US" sz="132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생산자 입장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4800600" y="2515493"/>
            <a:ext cx="3733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26"/>
              </a:lnSpc>
              <a:buNone/>
            </a:pPr>
            <a:r>
              <a:rPr lang="en-US" sz="114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낮은 수익성 (30~40%만 수취)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800600" y="2725043"/>
            <a:ext cx="3733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26"/>
              </a:lnSpc>
              <a:buNone/>
            </a:pPr>
            <a:r>
              <a:rPr lang="en-US" sz="114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중간 유통업자 의존</a:t>
            </a:r>
            <a:endParaRPr lang="en-US" sz="1140" dirty="0"/>
          </a:p>
        </p:txBody>
      </p:sp>
      <p:sp>
        <p:nvSpPr>
          <p:cNvPr id="12" name="Text 9"/>
          <p:cNvSpPr/>
          <p:nvPr/>
        </p:nvSpPr>
        <p:spPr>
          <a:xfrm>
            <a:off x="4800600" y="2934593"/>
            <a:ext cx="3733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26"/>
              </a:lnSpc>
              <a:buNone/>
            </a:pPr>
            <a:r>
              <a:rPr lang="en-US" sz="114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가격 결정권 없음</a:t>
            </a:r>
            <a:endParaRPr lang="en-US" sz="1140" dirty="0"/>
          </a:p>
        </p:txBody>
      </p:sp>
      <p:sp>
        <p:nvSpPr>
          <p:cNvPr id="13" name="Text 10"/>
          <p:cNvSpPr/>
          <p:nvPr/>
        </p:nvSpPr>
        <p:spPr>
          <a:xfrm>
            <a:off x="4800600" y="3144143"/>
            <a:ext cx="3733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26"/>
              </a:lnSpc>
              <a:buNone/>
            </a:pPr>
            <a:r>
              <a:rPr lang="en-US" sz="114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판로 확보 어려움</a:t>
            </a:r>
            <a:endParaRPr lang="en-US" sz="11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2115741"/>
            <a:ext cx="2489150" cy="1856780"/>
          </a:xfrm>
          <a:prstGeom prst="roundRect">
            <a:avLst>
              <a:gd name="adj" fmla="val 59096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327350" y="2115741"/>
            <a:ext cx="2489150" cy="1856780"/>
          </a:xfrm>
          <a:prstGeom prst="roundRect">
            <a:avLst>
              <a:gd name="adj" fmla="val 59096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045101" y="2115741"/>
            <a:ext cx="2489299" cy="1856780"/>
          </a:xfrm>
          <a:prstGeom prst="roundRect">
            <a:avLst>
              <a:gd name="adj" fmla="val 59096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09600" y="117098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솔루션 (Solution)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923925" y="2430066"/>
            <a:ext cx="186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직거래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923925" y="2963466"/>
            <a:ext cx="1860500" cy="694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중간 유통업자 제거로 소비자는 40% 저렴하게, 생산자는 90% 대가 수취</a:t>
            </a:r>
            <a:endParaRPr lang="en-US" sz="1140" dirty="0"/>
          </a:p>
        </p:txBody>
      </p:sp>
      <p:sp>
        <p:nvSpPr>
          <p:cNvPr id="9" name="Text 6"/>
          <p:cNvSpPr/>
          <p:nvPr/>
        </p:nvSpPr>
        <p:spPr>
          <a:xfrm>
            <a:off x="3641675" y="2430066"/>
            <a:ext cx="186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신선성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3641675" y="2963466"/>
            <a:ext cx="1860500" cy="463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수확 후 1~2일 내 배송으로 최상의 신선도 보장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6359426" y="2430066"/>
            <a:ext cx="186064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투명성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6359426" y="2963466"/>
            <a:ext cx="1860649" cy="463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생산자명, 재배지, 인증상태 공개로 신뢰도 극대화</a:t>
            </a:r>
            <a:endParaRPr lang="en-US" sz="11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739205"/>
            <a:ext cx="2489150" cy="1466850"/>
          </a:xfrm>
          <a:prstGeom prst="roundRect">
            <a:avLst>
              <a:gd name="adj" fmla="val 49870"/>
            </a:avLst>
          </a:prstGeom>
          <a:solidFill>
            <a:srgbClr val="10B981">
              <a:alpha val="15000"/>
            </a:srgbClr>
          </a:solidFill>
          <a:ln w="19050">
            <a:solidFill>
              <a:srgbClr val="10B981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327350" y="1739205"/>
            <a:ext cx="2489150" cy="1466850"/>
          </a:xfrm>
          <a:prstGeom prst="roundRect">
            <a:avLst>
              <a:gd name="adj" fmla="val 49870"/>
            </a:avLst>
          </a:prstGeom>
          <a:solidFill>
            <a:srgbClr val="10B981">
              <a:alpha val="15000"/>
            </a:srgbClr>
          </a:solidFill>
          <a:ln w="19050">
            <a:solidFill>
              <a:srgbClr val="10B981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045101" y="1739205"/>
            <a:ext cx="2489299" cy="1466850"/>
          </a:xfrm>
          <a:prstGeom prst="roundRect">
            <a:avLst>
              <a:gd name="adj" fmla="val 49870"/>
            </a:avLst>
          </a:prstGeom>
          <a:solidFill>
            <a:srgbClr val="F97316">
              <a:alpha val="15000"/>
            </a:srgbClr>
          </a:solidFill>
          <a:ln w="19050">
            <a:solidFill>
              <a:srgbClr val="F97316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09600" y="3510855"/>
            <a:ext cx="7924800" cy="685800"/>
          </a:xfrm>
          <a:prstGeom prst="roundRect">
            <a:avLst>
              <a:gd name="adj" fmla="val 53333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09600" y="794445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시장 규모 (Market Opportunity)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857250" y="1986855"/>
            <a:ext cx="19938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24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36조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57250" y="2501205"/>
            <a:ext cx="19938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2"/>
              </a:lnSpc>
              <a:buNone/>
            </a:pPr>
            <a:r>
              <a:rPr lang="en-US" sz="108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기존 농산물 시장 (TAM)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857250" y="2777430"/>
            <a:ext cx="19938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64"/>
              </a:lnSpc>
              <a:buNone/>
            </a:pPr>
            <a:r>
              <a:rPr lang="en-US" sz="96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연 성장률 2~3%</a:t>
            </a:r>
            <a:endParaRPr lang="en-US" sz="960" dirty="0"/>
          </a:p>
        </p:txBody>
      </p:sp>
      <p:sp>
        <p:nvSpPr>
          <p:cNvPr id="11" name="Text 8"/>
          <p:cNvSpPr/>
          <p:nvPr/>
        </p:nvSpPr>
        <p:spPr>
          <a:xfrm>
            <a:off x="3575000" y="1986855"/>
            <a:ext cx="19938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24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8.5조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575000" y="2501205"/>
            <a:ext cx="19938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2"/>
              </a:lnSpc>
              <a:buNone/>
            </a:pPr>
            <a:r>
              <a:rPr lang="en-US" sz="108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온라인 농산물 시장 (SAM)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3575000" y="2777430"/>
            <a:ext cx="19938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64"/>
              </a:lnSpc>
              <a:buNone/>
            </a:pPr>
            <a:r>
              <a:rPr lang="en-US" sz="96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연 성장률 8~10%</a:t>
            </a:r>
            <a:endParaRPr lang="en-US" sz="960" dirty="0"/>
          </a:p>
        </p:txBody>
      </p:sp>
      <p:sp>
        <p:nvSpPr>
          <p:cNvPr id="14" name="Text 11"/>
          <p:cNvSpPr/>
          <p:nvPr/>
        </p:nvSpPr>
        <p:spPr>
          <a:xfrm>
            <a:off x="6292751" y="1986855"/>
            <a:ext cx="199399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24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1.2조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6292751" y="2501205"/>
            <a:ext cx="19939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2"/>
              </a:lnSpc>
              <a:buNone/>
            </a:pPr>
            <a:r>
              <a:rPr lang="en-US" sz="108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직거래 시장 (SOM, 기존)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6292751" y="2777430"/>
            <a:ext cx="199399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64"/>
              </a:lnSpc>
              <a:buNone/>
            </a:pPr>
            <a:r>
              <a:rPr lang="en-US" sz="96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연 성장률 45% (고성장)</a:t>
            </a:r>
            <a:endParaRPr lang="en-US" sz="960" dirty="0"/>
          </a:p>
        </p:txBody>
      </p:sp>
      <p:sp>
        <p:nvSpPr>
          <p:cNvPr id="17" name="Text 14"/>
          <p:cNvSpPr/>
          <p:nvPr/>
        </p:nvSpPr>
        <p:spPr>
          <a:xfrm>
            <a:off x="609600" y="3510855"/>
            <a:ext cx="792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목표: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3년 내 직거래 시장의 5% 점유 (600억원) 달성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396454"/>
            <a:ext cx="3848100" cy="3295501"/>
          </a:xfrm>
          <a:prstGeom prst="roundRect">
            <a:avLst>
              <a:gd name="adj" fmla="val 33296"/>
            </a:avLst>
          </a:prstGeom>
          <a:solidFill>
            <a:srgbClr val="1E293B"/>
          </a:solidFill>
          <a:ln w="9525">
            <a:solidFill>
              <a:srgbClr val="64748B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686300" y="1396454"/>
            <a:ext cx="3848100" cy="3295501"/>
          </a:xfrm>
          <a:prstGeom prst="roundRect">
            <a:avLst>
              <a:gd name="adj" fmla="val 33296"/>
            </a:avLst>
          </a:prstGeom>
          <a:solidFill>
            <a:srgbClr val="1E293B"/>
          </a:solidFill>
          <a:ln w="9525">
            <a:solidFill>
              <a:srgbClr val="64748B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09600" y="451693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서비스 구조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923925" y="1710779"/>
            <a:ext cx="3219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2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생산자 앱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923925" y="2244179"/>
            <a:ext cx="3219450" cy="19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재배 현황 등록 (면적, 품목)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일일 수확량 입력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가격 설정 및 판매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자동 정산 (90% 입금)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평점 관리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00625" y="1710779"/>
            <a:ext cx="3219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2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소비자 앱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5000625" y="2244179"/>
            <a:ext cx="3219450" cy="19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생산자 프로필 조회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재배지 실시간 영상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신선 농산물 구매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수확 당일 배송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생산자와 직접 소통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957239"/>
            <a:ext cx="2489150" cy="2173635"/>
          </a:xfrm>
          <a:prstGeom prst="roundRect">
            <a:avLst>
              <a:gd name="adj" fmla="val 5048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327350" y="1957239"/>
            <a:ext cx="2489150" cy="2173635"/>
          </a:xfrm>
          <a:prstGeom prst="roundRect">
            <a:avLst>
              <a:gd name="adj" fmla="val 5048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045101" y="1957239"/>
            <a:ext cx="2489299" cy="2173635"/>
          </a:xfrm>
          <a:prstGeom prst="roundRect">
            <a:avLst>
              <a:gd name="adj" fmla="val 5048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09600" y="1012478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수익 모델 (Revenue Model)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923925" y="2271564"/>
            <a:ext cx="186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거래 수수료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923925" y="2804964"/>
            <a:ext cx="1897710" cy="268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12"/>
              </a:lnSpc>
              <a:buNone/>
            </a:pPr>
            <a:r>
              <a:rPr lang="en-US" sz="13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거래액의 12%</a:t>
            </a:r>
            <a:endParaRPr lang="en-US" sz="1320" dirty="0"/>
          </a:p>
        </p:txBody>
      </p:sp>
      <p:sp>
        <p:nvSpPr>
          <p:cNvPr id="9" name="Text 6"/>
          <p:cNvSpPr/>
          <p:nvPr/>
        </p:nvSpPr>
        <p:spPr>
          <a:xfrm>
            <a:off x="923925" y="3225403"/>
            <a:ext cx="1897710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(생산자 7% + 소비자 5%)</a:t>
            </a:r>
            <a:endParaRPr lang="en-US" sz="1140" dirty="0"/>
          </a:p>
        </p:txBody>
      </p:sp>
      <p:sp>
        <p:nvSpPr>
          <p:cNvPr id="10" name="Text 7"/>
          <p:cNvSpPr/>
          <p:nvPr/>
        </p:nvSpPr>
        <p:spPr>
          <a:xfrm>
            <a:off x="923925" y="3609380"/>
            <a:ext cx="189771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월 거래액 10억 시 월 1.2억</a:t>
            </a:r>
            <a:endParaRPr lang="en-US" sz="1020" dirty="0"/>
          </a:p>
        </p:txBody>
      </p:sp>
      <p:sp>
        <p:nvSpPr>
          <p:cNvPr id="11" name="Text 8"/>
          <p:cNvSpPr/>
          <p:nvPr/>
        </p:nvSpPr>
        <p:spPr>
          <a:xfrm>
            <a:off x="3641675" y="2271564"/>
            <a:ext cx="186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정기구독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3641675" y="2804964"/>
            <a:ext cx="1897710" cy="268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12"/>
              </a:lnSpc>
              <a:buNone/>
            </a:pPr>
            <a:r>
              <a:rPr lang="en-US" sz="13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월 49,900원</a:t>
            </a:r>
            <a:endParaRPr lang="en-US" sz="1320" dirty="0"/>
          </a:p>
        </p:txBody>
      </p:sp>
      <p:sp>
        <p:nvSpPr>
          <p:cNvPr id="13" name="Text 10"/>
          <p:cNvSpPr/>
          <p:nvPr/>
        </p:nvSpPr>
        <p:spPr>
          <a:xfrm>
            <a:off x="3641675" y="3225403"/>
            <a:ext cx="1897710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수수료 0% + 배송비 무료</a:t>
            </a:r>
            <a:endParaRPr lang="en-US" sz="1140" dirty="0"/>
          </a:p>
        </p:txBody>
      </p:sp>
      <p:sp>
        <p:nvSpPr>
          <p:cNvPr id="14" name="Text 11"/>
          <p:cNvSpPr/>
          <p:nvPr/>
        </p:nvSpPr>
        <p:spPr>
          <a:xfrm>
            <a:off x="3641675" y="3609380"/>
            <a:ext cx="189771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1,000명 구독 시 월 5천만</a:t>
            </a:r>
            <a:endParaRPr lang="en-US" sz="1020" dirty="0"/>
          </a:p>
        </p:txBody>
      </p:sp>
      <p:sp>
        <p:nvSpPr>
          <p:cNvPr id="15" name="Text 12"/>
          <p:cNvSpPr/>
          <p:nvPr/>
        </p:nvSpPr>
        <p:spPr>
          <a:xfrm>
            <a:off x="6359426" y="2271564"/>
            <a:ext cx="186064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B2B / 광고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6359426" y="2804964"/>
            <a:ext cx="1897862" cy="268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12"/>
              </a:lnSpc>
              <a:buNone/>
            </a:pPr>
            <a:r>
              <a:rPr lang="en-US" sz="13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식당, 급식소 계약</a:t>
            </a:r>
            <a:endParaRPr lang="en-US" sz="1320" dirty="0"/>
          </a:p>
        </p:txBody>
      </p:sp>
      <p:sp>
        <p:nvSpPr>
          <p:cNvPr id="17" name="Text 14"/>
          <p:cNvSpPr/>
          <p:nvPr/>
        </p:nvSpPr>
        <p:spPr>
          <a:xfrm>
            <a:off x="6359426" y="3225403"/>
            <a:ext cx="1897862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프리미엄 광고 패키지</a:t>
            </a:r>
            <a:endParaRPr lang="en-US" sz="1140" dirty="0"/>
          </a:p>
        </p:txBody>
      </p:sp>
      <p:sp>
        <p:nvSpPr>
          <p:cNvPr id="18" name="Text 15"/>
          <p:cNvSpPr/>
          <p:nvPr/>
        </p:nvSpPr>
        <p:spPr>
          <a:xfrm>
            <a:off x="6359426" y="3609380"/>
            <a:ext cx="1897862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2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월 3천만 예상</a:t>
            </a:r>
            <a:endParaRPr lang="en-US" sz="10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545009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경쟁 우위 (Competitive Advantage)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09600" y="1184970"/>
            <a:ext cx="3733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2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우리의 차별점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609600" y="1794570"/>
            <a:ext cx="3733800" cy="2803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엄격한 생산자 인증</a:t>
            </a:r>
            <a:pPr indent="0" marL="0">
              <a:lnSpc>
                <a:spcPts val="2160"/>
              </a:lnSpc>
              <a:buNone/>
            </a:pPr>
            <a:endParaRPr lang="en-US" sz="1200" dirty="0"/>
          </a:p>
          <a:p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POLICY-001 기반 검증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투명성 시스템</a:t>
            </a:r>
            <a:pPr indent="0" marL="0">
              <a:lnSpc>
                <a:spcPts val="2160"/>
              </a:lnSpc>
              <a:buNone/>
            </a:pPr>
            <a:endParaRPr lang="en-US" sz="1200" dirty="0"/>
          </a:p>
          <a:p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재배지 영상+원산지 추적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실시간 배송</a:t>
            </a:r>
            <a:pPr indent="0" marL="0">
              <a:lnSpc>
                <a:spcPts val="2160"/>
              </a:lnSpc>
              <a:buNone/>
            </a:pPr>
            <a:endParaRPr lang="en-US" sz="1200" dirty="0"/>
          </a:p>
          <a:p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당일 발송 + 다음날 도착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모니터링</a:t>
            </a:r>
            <a:pPr indent="0" marL="0">
              <a:lnSpc>
                <a:spcPts val="2160"/>
              </a:lnSpc>
              <a:buNone/>
            </a:pPr>
            <a:endParaRPr lang="en-US" sz="1200" dirty="0"/>
          </a:p>
          <a:p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부정거래 자동 감지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800600" y="1184970"/>
            <a:ext cx="3733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2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진입 장벽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4800600" y="1794570"/>
            <a:ext cx="3733800" cy="2803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규제 진입장벽</a:t>
            </a:r>
            <a:pPr indent="0" marL="0">
              <a:lnSpc>
                <a:spcPts val="2160"/>
              </a:lnSpc>
              <a:buNone/>
            </a:pPr>
            <a:endParaRPr lang="en-US" sz="1200" dirty="0"/>
          </a:p>
          <a:p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정책/법규 준수 체계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네트워크 효과</a:t>
            </a:r>
            <a:pPr indent="0" marL="0">
              <a:lnSpc>
                <a:spcPts val="2160"/>
              </a:lnSpc>
              <a:buNone/>
            </a:pPr>
            <a:endParaRPr lang="en-US" sz="1200" dirty="0"/>
          </a:p>
          <a:p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생산자-소비자 양면 네트워크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데이터 자산</a:t>
            </a:r>
            <a:pPr indent="0" marL="0">
              <a:lnSpc>
                <a:spcPts val="2160"/>
              </a:lnSpc>
              <a:buNone/>
            </a:pPr>
            <a:endParaRPr lang="en-US" sz="1200" dirty="0"/>
          </a:p>
          <a:p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재배/거래 빅데이터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브랜드 신뢰도</a:t>
            </a:r>
            <a:pPr indent="0" marL="0">
              <a:lnSpc>
                <a:spcPts val="2160"/>
              </a:lnSpc>
              <a:buNone/>
            </a:pPr>
            <a:endParaRPr lang="en-US" sz="1200" dirty="0"/>
          </a:p>
          <a:p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투명성 기반 신뢰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2115741"/>
            <a:ext cx="3848100" cy="1856780"/>
          </a:xfrm>
          <a:prstGeom prst="roundRect">
            <a:avLst>
              <a:gd name="adj" fmla="val 59096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686300" y="2115741"/>
            <a:ext cx="3848100" cy="1856780"/>
          </a:xfrm>
          <a:prstGeom prst="roundRect">
            <a:avLst>
              <a:gd name="adj" fmla="val 59096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09600" y="117098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고객 검증 (Traction)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923925" y="2430066"/>
            <a:ext cx="3219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Pre-Launch 테스트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923925" y="2963466"/>
            <a:ext cx="3283839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생산자 심사:</a:t>
            </a:r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50명 참여</a:t>
            </a:r>
            <a:endParaRPr lang="en-US" sz="1140" dirty="0"/>
          </a:p>
        </p:txBody>
      </p:sp>
      <p:sp>
        <p:nvSpPr>
          <p:cNvPr id="8" name="Text 5"/>
          <p:cNvSpPr/>
          <p:nvPr/>
        </p:nvSpPr>
        <p:spPr>
          <a:xfrm>
            <a:off x="923925" y="3195042"/>
            <a:ext cx="3283839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NPS:</a:t>
            </a:r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8.2/10 (우수)</a:t>
            </a:r>
            <a:endParaRPr lang="en-US" sz="1140" dirty="0"/>
          </a:p>
        </p:txBody>
      </p:sp>
      <p:sp>
        <p:nvSpPr>
          <p:cNvPr id="9" name="Text 6"/>
          <p:cNvSpPr/>
          <p:nvPr/>
        </p:nvSpPr>
        <p:spPr>
          <a:xfrm>
            <a:off x="923925" y="3426619"/>
            <a:ext cx="3283839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피드백:</a:t>
            </a:r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"투명성 좋음 + 수익 개선"</a:t>
            </a:r>
            <a:endParaRPr lang="en-US" sz="1140" dirty="0"/>
          </a:p>
        </p:txBody>
      </p:sp>
      <p:sp>
        <p:nvSpPr>
          <p:cNvPr id="10" name="Text 7"/>
          <p:cNvSpPr/>
          <p:nvPr/>
        </p:nvSpPr>
        <p:spPr>
          <a:xfrm>
            <a:off x="5000625" y="2430066"/>
            <a:ext cx="3219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소비자 선호도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5000625" y="2963466"/>
            <a:ext cx="3283839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설문 응답:</a:t>
            </a:r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1,200명</a:t>
            </a:r>
            <a:endParaRPr lang="en-US" sz="1140" dirty="0"/>
          </a:p>
        </p:txBody>
      </p:sp>
      <p:sp>
        <p:nvSpPr>
          <p:cNvPr id="12" name="Text 9"/>
          <p:cNvSpPr/>
          <p:nvPr/>
        </p:nvSpPr>
        <p:spPr>
          <a:xfrm>
            <a:off x="5000625" y="3195042"/>
            <a:ext cx="3283839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구매 의향:</a:t>
            </a:r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78%</a:t>
            </a:r>
            <a:endParaRPr lang="en-US" sz="1140" dirty="0"/>
          </a:p>
        </p:txBody>
      </p:sp>
      <p:sp>
        <p:nvSpPr>
          <p:cNvPr id="13" name="Text 10"/>
          <p:cNvSpPr/>
          <p:nvPr/>
        </p:nvSpPr>
        <p:spPr>
          <a:xfrm>
            <a:off x="5000625" y="3426619"/>
            <a:ext cx="3283839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평균 가격:</a:t>
            </a:r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기존 대비 35% 할인 선호</a:t>
            </a:r>
            <a:endParaRPr lang="en-US" sz="11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4187130"/>
            <a:ext cx="7924800" cy="685800"/>
          </a:xfrm>
          <a:prstGeom prst="roundRect">
            <a:avLst>
              <a:gd name="adj" fmla="val 53333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09600" y="11817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재무 예측 (Financial Projections)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838200" y="1291530"/>
            <a:ext cx="20319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3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3,000만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38200" y="1920180"/>
            <a:ext cx="2031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26"/>
              </a:lnSpc>
              <a:buNone/>
            </a:pPr>
            <a:r>
              <a:rPr lang="en-US" sz="114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M1 월 거래액</a:t>
            </a:r>
            <a:endParaRPr lang="en-US" sz="1140" dirty="0"/>
          </a:p>
        </p:txBody>
      </p:sp>
      <p:sp>
        <p:nvSpPr>
          <p:cNvPr id="7" name="Text 4"/>
          <p:cNvSpPr/>
          <p:nvPr/>
        </p:nvSpPr>
        <p:spPr>
          <a:xfrm>
            <a:off x="3555950" y="1291530"/>
            <a:ext cx="20319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3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10억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3555950" y="1920180"/>
            <a:ext cx="2031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26"/>
              </a:lnSpc>
              <a:buNone/>
            </a:pPr>
            <a:r>
              <a:rPr lang="en-US" sz="114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M12 월 거래액</a:t>
            </a:r>
            <a:endParaRPr lang="en-US" sz="1140" dirty="0"/>
          </a:p>
        </p:txBody>
      </p:sp>
      <p:sp>
        <p:nvSpPr>
          <p:cNvPr id="9" name="Text 6"/>
          <p:cNvSpPr/>
          <p:nvPr/>
        </p:nvSpPr>
        <p:spPr>
          <a:xfrm>
            <a:off x="6273701" y="1291530"/>
            <a:ext cx="2032099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3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15억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6273701" y="1920180"/>
            <a:ext cx="20320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26"/>
              </a:lnSpc>
              <a:buNone/>
            </a:pPr>
            <a:r>
              <a:rPr lang="en-US" sz="114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M18 월 거래액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838200" y="2815530"/>
            <a:ext cx="20319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30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18개월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838200" y="3444180"/>
            <a:ext cx="2031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26"/>
              </a:lnSpc>
              <a:buNone/>
            </a:pPr>
            <a:r>
              <a:rPr lang="en-US" sz="114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손익분기점</a:t>
            </a:r>
            <a:endParaRPr lang="en-US" sz="11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81362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투자 유치 계획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91503" y="2453580"/>
            <a:ext cx="18459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26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Seed Round</a:t>
            </a:r>
            <a:endParaRPr lang="en-US" sz="1140" dirty="0"/>
          </a:p>
        </p:txBody>
      </p:sp>
      <p:sp>
        <p:nvSpPr>
          <p:cNvPr id="5" name="Text 2"/>
          <p:cNvSpPr/>
          <p:nvPr/>
        </p:nvSpPr>
        <p:spPr>
          <a:xfrm>
            <a:off x="609600" y="2720280"/>
            <a:ext cx="18097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4억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91503" y="3129855"/>
            <a:ext cx="184594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64"/>
              </a:lnSpc>
              <a:buNone/>
            </a:pPr>
            <a:r>
              <a:rPr lang="en-US" sz="96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M1~6 (MVP + Beta)</a:t>
            </a:r>
            <a:endParaRPr lang="en-US" sz="960" dirty="0"/>
          </a:p>
        </p:txBody>
      </p:sp>
      <p:sp>
        <p:nvSpPr>
          <p:cNvPr id="7" name="Text 4"/>
          <p:cNvSpPr/>
          <p:nvPr/>
        </p:nvSpPr>
        <p:spPr>
          <a:xfrm>
            <a:off x="2647950" y="2453580"/>
            <a:ext cx="1809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26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정부 지원금</a:t>
            </a:r>
            <a:endParaRPr lang="en-US" sz="1140" dirty="0"/>
          </a:p>
        </p:txBody>
      </p:sp>
      <p:sp>
        <p:nvSpPr>
          <p:cNvPr id="8" name="Text 5"/>
          <p:cNvSpPr/>
          <p:nvPr/>
        </p:nvSpPr>
        <p:spPr>
          <a:xfrm>
            <a:off x="2647950" y="2739330"/>
            <a:ext cx="18097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3억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647950" y="3148905"/>
            <a:ext cx="18097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64"/>
              </a:lnSpc>
              <a:buNone/>
            </a:pPr>
            <a:r>
              <a:rPr lang="en-US" sz="96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창업·농식품부</a:t>
            </a:r>
            <a:endParaRPr lang="en-US" sz="960" dirty="0"/>
          </a:p>
        </p:txBody>
      </p:sp>
      <p:sp>
        <p:nvSpPr>
          <p:cNvPr id="10" name="Text 7"/>
          <p:cNvSpPr/>
          <p:nvPr/>
        </p:nvSpPr>
        <p:spPr>
          <a:xfrm>
            <a:off x="4686300" y="2453580"/>
            <a:ext cx="1809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26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대표 자기자본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4686300" y="2739330"/>
            <a:ext cx="18097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1.5~2억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686300" y="3148905"/>
            <a:ext cx="18097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64"/>
              </a:lnSpc>
              <a:buNone/>
            </a:pPr>
            <a:r>
              <a:rPr lang="en-US" sz="96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초기 운영자금</a:t>
            </a:r>
            <a:endParaRPr lang="en-US" sz="960" dirty="0"/>
          </a:p>
        </p:txBody>
      </p:sp>
      <p:sp>
        <p:nvSpPr>
          <p:cNvPr id="13" name="Text 10"/>
          <p:cNvSpPr/>
          <p:nvPr/>
        </p:nvSpPr>
        <p:spPr>
          <a:xfrm>
            <a:off x="6724650" y="2453580"/>
            <a:ext cx="1809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26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총 투자금</a:t>
            </a:r>
            <a:endParaRPr lang="en-US" sz="1140" dirty="0"/>
          </a:p>
        </p:txBody>
      </p:sp>
      <p:sp>
        <p:nvSpPr>
          <p:cNvPr id="14" name="Text 11"/>
          <p:cNvSpPr/>
          <p:nvPr/>
        </p:nvSpPr>
        <p:spPr>
          <a:xfrm>
            <a:off x="6724650" y="2739330"/>
            <a:ext cx="18097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8.5~9억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724650" y="3148905"/>
            <a:ext cx="18097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64"/>
              </a:lnSpc>
              <a:buNone/>
            </a:pPr>
            <a:r>
              <a:rPr lang="en-US" sz="96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24개월 지속가능</a:t>
            </a:r>
            <a:endParaRPr lang="en-US" sz="9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2124968"/>
            <a:ext cx="1866900" cy="1533525"/>
          </a:xfrm>
          <a:prstGeom prst="roundRect">
            <a:avLst>
              <a:gd name="adj" fmla="val 47702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2628900" y="2124968"/>
            <a:ext cx="1866900" cy="1533525"/>
          </a:xfrm>
          <a:prstGeom prst="roundRect">
            <a:avLst>
              <a:gd name="adj" fmla="val 47702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648200" y="2124968"/>
            <a:ext cx="1866900" cy="1533525"/>
          </a:xfrm>
          <a:prstGeom prst="roundRect">
            <a:avLst>
              <a:gd name="adj" fmla="val 47702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667500" y="2124968"/>
            <a:ext cx="1866900" cy="1533525"/>
          </a:xfrm>
          <a:prstGeom prst="roundRect">
            <a:avLst>
              <a:gd name="adj" fmla="val 47702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09600" y="1485007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자금 사용 계획 (Use of Funds)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824103" y="2353568"/>
            <a:ext cx="1437894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4"/>
              </a:lnSpc>
              <a:buNone/>
            </a:pPr>
            <a:r>
              <a:rPr lang="en-US" sz="216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63%</a:t>
            </a:r>
            <a:endParaRPr lang="en-US" sz="2160" dirty="0"/>
          </a:p>
        </p:txBody>
      </p:sp>
      <p:sp>
        <p:nvSpPr>
          <p:cNvPr id="9" name="Text 6"/>
          <p:cNvSpPr/>
          <p:nvPr/>
        </p:nvSpPr>
        <p:spPr>
          <a:xfrm>
            <a:off x="838200" y="2791718"/>
            <a:ext cx="1409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2"/>
              </a:lnSpc>
              <a:buNone/>
            </a:pPr>
            <a:r>
              <a:rPr lang="en-US" sz="108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개발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838200" y="3067943"/>
            <a:ext cx="14097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64"/>
              </a:lnSpc>
              <a:buNone/>
            </a:pPr>
            <a:r>
              <a:rPr lang="en-US" sz="96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인건비 60% + 외주 20% + 기술료 20%</a:t>
            </a:r>
            <a:endParaRPr lang="en-US" sz="960" dirty="0"/>
          </a:p>
        </p:txBody>
      </p:sp>
      <p:sp>
        <p:nvSpPr>
          <p:cNvPr id="11" name="Text 8"/>
          <p:cNvSpPr/>
          <p:nvPr/>
        </p:nvSpPr>
        <p:spPr>
          <a:xfrm>
            <a:off x="2843403" y="2353568"/>
            <a:ext cx="1437894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4"/>
              </a:lnSpc>
              <a:buNone/>
            </a:pPr>
            <a:r>
              <a:rPr lang="en-US" sz="216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16%</a:t>
            </a:r>
            <a:endParaRPr lang="en-US" sz="2160" dirty="0"/>
          </a:p>
        </p:txBody>
      </p:sp>
      <p:sp>
        <p:nvSpPr>
          <p:cNvPr id="12" name="Text 9"/>
          <p:cNvSpPr/>
          <p:nvPr/>
        </p:nvSpPr>
        <p:spPr>
          <a:xfrm>
            <a:off x="2857500" y="2791718"/>
            <a:ext cx="1409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2"/>
              </a:lnSpc>
              <a:buNone/>
            </a:pPr>
            <a:r>
              <a:rPr lang="en-US" sz="108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인프라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2857500" y="3067943"/>
            <a:ext cx="14097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64"/>
              </a:lnSpc>
              <a:buNone/>
            </a:pPr>
            <a:r>
              <a:rPr lang="en-US" sz="96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클라우드 + 결제 + 보안</a:t>
            </a:r>
            <a:endParaRPr lang="en-US" sz="960" dirty="0"/>
          </a:p>
        </p:txBody>
      </p:sp>
      <p:sp>
        <p:nvSpPr>
          <p:cNvPr id="14" name="Text 11"/>
          <p:cNvSpPr/>
          <p:nvPr/>
        </p:nvSpPr>
        <p:spPr>
          <a:xfrm>
            <a:off x="4862703" y="2353568"/>
            <a:ext cx="1437894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4"/>
              </a:lnSpc>
              <a:buNone/>
            </a:pPr>
            <a:r>
              <a:rPr lang="en-US" sz="216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11%</a:t>
            </a:r>
            <a:endParaRPr lang="en-US" sz="2160" dirty="0"/>
          </a:p>
        </p:txBody>
      </p:sp>
      <p:sp>
        <p:nvSpPr>
          <p:cNvPr id="15" name="Text 12"/>
          <p:cNvSpPr/>
          <p:nvPr/>
        </p:nvSpPr>
        <p:spPr>
          <a:xfrm>
            <a:off x="4876800" y="2791718"/>
            <a:ext cx="1409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2"/>
              </a:lnSpc>
              <a:buNone/>
            </a:pPr>
            <a:r>
              <a:rPr lang="en-US" sz="108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마케팅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4876800" y="3067943"/>
            <a:ext cx="14097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64"/>
              </a:lnSpc>
              <a:buNone/>
            </a:pPr>
            <a:r>
              <a:rPr lang="en-US" sz="96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인플루언서 + 초기 고객 획득</a:t>
            </a:r>
            <a:endParaRPr lang="en-US" sz="960" dirty="0"/>
          </a:p>
        </p:txBody>
      </p:sp>
      <p:sp>
        <p:nvSpPr>
          <p:cNvPr id="17" name="Text 14"/>
          <p:cNvSpPr/>
          <p:nvPr/>
        </p:nvSpPr>
        <p:spPr>
          <a:xfrm>
            <a:off x="6882003" y="2353568"/>
            <a:ext cx="1437894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44"/>
              </a:lnSpc>
              <a:buNone/>
            </a:pPr>
            <a:r>
              <a:rPr lang="en-US" sz="216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10%</a:t>
            </a:r>
            <a:endParaRPr lang="en-US" sz="2160" dirty="0"/>
          </a:p>
        </p:txBody>
      </p:sp>
      <p:sp>
        <p:nvSpPr>
          <p:cNvPr id="18" name="Text 15"/>
          <p:cNvSpPr/>
          <p:nvPr/>
        </p:nvSpPr>
        <p:spPr>
          <a:xfrm>
            <a:off x="6896100" y="2791718"/>
            <a:ext cx="1409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2"/>
              </a:lnSpc>
              <a:buNone/>
            </a:pPr>
            <a:r>
              <a:rPr lang="en-US" sz="108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예비비</a:t>
            </a:r>
            <a:endParaRPr lang="en-US" sz="1080" dirty="0"/>
          </a:p>
        </p:txBody>
      </p:sp>
      <p:sp>
        <p:nvSpPr>
          <p:cNvPr id="19" name="Text 16"/>
          <p:cNvSpPr/>
          <p:nvPr/>
        </p:nvSpPr>
        <p:spPr>
          <a:xfrm>
            <a:off x="6896100" y="3067943"/>
            <a:ext cx="14097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64"/>
              </a:lnSpc>
              <a:buNone/>
            </a:pPr>
            <a:r>
              <a:rPr lang="en-US" sz="96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긴급 상황 대비</a:t>
            </a:r>
            <a:endParaRPr lang="en-US" sz="9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539180"/>
            <a:ext cx="114300" cy="114300"/>
          </a:xfrm>
          <a:prstGeom prst="roundRect">
            <a:avLst>
              <a:gd name="adj" fmla="val 4000000"/>
            </a:avLst>
          </a:prstGeom>
          <a:solidFill>
            <a:srgbClr val="FFFF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09600" y="2234505"/>
            <a:ext cx="114300" cy="114300"/>
          </a:xfrm>
          <a:prstGeom prst="roundRect">
            <a:avLst>
              <a:gd name="adj" fmla="val 4000000"/>
            </a:avLst>
          </a:prstGeom>
          <a:solidFill>
            <a:srgbClr val="FFFF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09600" y="2929830"/>
            <a:ext cx="114300" cy="114300"/>
          </a:xfrm>
          <a:prstGeom prst="roundRect">
            <a:avLst>
              <a:gd name="adj" fmla="val 4000000"/>
            </a:avLst>
          </a:prstGeom>
          <a:solidFill>
            <a:srgbClr val="FFFF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09600" y="3625155"/>
            <a:ext cx="114300" cy="114300"/>
          </a:xfrm>
          <a:prstGeom prst="roundRect">
            <a:avLst>
              <a:gd name="adj" fmla="val 4000000"/>
            </a:avLst>
          </a:prstGeom>
          <a:solidFill>
            <a:srgbClr val="FFFF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09600" y="55632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실행 로드맵 (Timeline)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952500" y="1501080"/>
            <a:ext cx="2725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1: 기획 및 설계 (3개월, 2026.1~3월)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52500" y="1767780"/>
            <a:ext cx="27251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2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요구사항 정의 → 아키텍처 설계 → 법적 검토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952500" y="2196405"/>
            <a:ext cx="29270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2: MVP 개발 (6개월, 2026.3~8월)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52500" y="2463105"/>
            <a:ext cx="29270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2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백엔드 → 프론트엔드 → 통합 테스트 → 알파 테스트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952500" y="2891730"/>
            <a:ext cx="26277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3: 베타 런칭 (3개월, 2026.8~11월)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52500" y="3158430"/>
            <a:ext cx="26277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2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생산자 100명, 소비자 1,000명 온보딩</a:t>
            </a:r>
            <a:endParaRPr lang="en-US" sz="1080" dirty="0"/>
          </a:p>
        </p:txBody>
      </p:sp>
      <p:sp>
        <p:nvSpPr>
          <p:cNvPr id="14" name="Text 11"/>
          <p:cNvSpPr/>
          <p:nvPr/>
        </p:nvSpPr>
        <p:spPr>
          <a:xfrm>
            <a:off x="952500" y="3587055"/>
            <a:ext cx="31024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4: 정식 런칭 (12개월, 2026.11~2027.11월)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52500" y="3853755"/>
            <a:ext cx="310247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2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전국 확대 → 월 거래액 10억 → Series A 투자</a:t>
            </a:r>
            <a:endParaRPr lang="en-US" sz="10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268611"/>
            <a:ext cx="2489150" cy="3551039"/>
          </a:xfrm>
          <a:prstGeom prst="roundRect">
            <a:avLst>
              <a:gd name="adj" fmla="val 44083"/>
            </a:avLst>
          </a:prstGeom>
          <a:solidFill>
            <a:srgbClr val="1E293B"/>
          </a:solidFill>
          <a:ln w="9525">
            <a:solidFill>
              <a:srgbClr val="64748B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327350" y="1268611"/>
            <a:ext cx="2489150" cy="3551039"/>
          </a:xfrm>
          <a:prstGeom prst="roundRect">
            <a:avLst>
              <a:gd name="adj" fmla="val 44083"/>
            </a:avLst>
          </a:prstGeom>
          <a:solidFill>
            <a:srgbClr val="1E293B"/>
          </a:solidFill>
          <a:ln w="9525">
            <a:solidFill>
              <a:srgbClr val="64748B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045101" y="1268611"/>
            <a:ext cx="2489299" cy="3551039"/>
          </a:xfrm>
          <a:prstGeom prst="roundRect">
            <a:avLst>
              <a:gd name="adj" fmla="val 44080"/>
            </a:avLst>
          </a:prstGeom>
          <a:solidFill>
            <a:srgbClr val="1E293B"/>
          </a:solidFill>
          <a:ln w="9525">
            <a:solidFill>
              <a:srgbClr val="64748B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09600" y="32385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팀 (Team)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923925" y="1582936"/>
            <a:ext cx="186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2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창업자 구성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923925" y="2116336"/>
            <a:ext cx="1860500" cy="694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CEO - 농업 정책 전문가</a:t>
            </a:r>
            <a:pPr indent="0" marL="0">
              <a:lnSpc>
                <a:spcPts val="1824"/>
              </a:lnSpc>
              <a:buNone/>
            </a:pPr>
            <a:endParaRPr lang="en-US" sz="1140" dirty="0"/>
          </a:p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전 농식품부 과장 | 농업 기술 정책 10년</a:t>
            </a:r>
            <a:endParaRPr lang="en-US" sz="1140" dirty="0"/>
          </a:p>
        </p:txBody>
      </p:sp>
      <p:sp>
        <p:nvSpPr>
          <p:cNvPr id="9" name="Text 6"/>
          <p:cNvSpPr/>
          <p:nvPr/>
        </p:nvSpPr>
        <p:spPr>
          <a:xfrm>
            <a:off x="923925" y="2963466"/>
            <a:ext cx="1860500" cy="694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CTO - AI/플랫폼 개발자</a:t>
            </a:r>
            <a:pPr indent="0" marL="0">
              <a:lnSpc>
                <a:spcPts val="1824"/>
              </a:lnSpc>
              <a:buNone/>
            </a:pPr>
            <a:endParaRPr lang="en-US" sz="1140" dirty="0"/>
          </a:p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전 당근마켓 개발팀장 | 스타트업 3회 출시</a:t>
            </a:r>
            <a:endParaRPr lang="en-US" sz="1140" dirty="0"/>
          </a:p>
        </p:txBody>
      </p:sp>
      <p:sp>
        <p:nvSpPr>
          <p:cNvPr id="10" name="Text 7"/>
          <p:cNvSpPr/>
          <p:nvPr/>
        </p:nvSpPr>
        <p:spPr>
          <a:xfrm>
            <a:off x="923925" y="3810595"/>
            <a:ext cx="1860500" cy="694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CMO - 마케팅 전문가</a:t>
            </a:r>
            <a:pPr indent="0" marL="0">
              <a:lnSpc>
                <a:spcPts val="1824"/>
              </a:lnSpc>
              <a:buNone/>
            </a:pPr>
            <a:endParaRPr lang="en-US" sz="1140" dirty="0"/>
          </a:p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전 쿠팡 마케팅 매니저 | 농가 네트워크 보유</a:t>
            </a:r>
            <a:endParaRPr lang="en-US" sz="1140" dirty="0"/>
          </a:p>
        </p:txBody>
      </p:sp>
      <p:sp>
        <p:nvSpPr>
          <p:cNvPr id="11" name="Text 8"/>
          <p:cNvSpPr/>
          <p:nvPr/>
        </p:nvSpPr>
        <p:spPr>
          <a:xfrm>
            <a:off x="3641675" y="1582936"/>
            <a:ext cx="186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2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조직 구성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3641675" y="2116336"/>
            <a:ext cx="1897710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14명 (초기)</a:t>
            </a:r>
            <a:endParaRPr lang="en-US" sz="1140" dirty="0"/>
          </a:p>
        </p:txBody>
      </p:sp>
      <p:sp>
        <p:nvSpPr>
          <p:cNvPr id="13" name="Text 10"/>
          <p:cNvSpPr/>
          <p:nvPr/>
        </p:nvSpPr>
        <p:spPr>
          <a:xfrm>
            <a:off x="3641675" y="2347913"/>
            <a:ext cx="1860500" cy="694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기획팀 2명 | 개발팀 6명 | 운영팀 3명 | 마케팅팀 2명 | 법무팀 1명</a:t>
            </a:r>
            <a:endParaRPr lang="en-US" sz="1140" dirty="0"/>
          </a:p>
        </p:txBody>
      </p:sp>
      <p:sp>
        <p:nvSpPr>
          <p:cNvPr id="14" name="Text 11"/>
          <p:cNvSpPr/>
          <p:nvPr/>
        </p:nvSpPr>
        <p:spPr>
          <a:xfrm>
            <a:off x="3641675" y="3195042"/>
            <a:ext cx="1897710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자문단</a:t>
            </a:r>
            <a:endParaRPr lang="en-US" sz="1140" dirty="0"/>
          </a:p>
        </p:txBody>
      </p:sp>
      <p:sp>
        <p:nvSpPr>
          <p:cNvPr id="15" name="Text 12"/>
          <p:cNvSpPr/>
          <p:nvPr/>
        </p:nvSpPr>
        <p:spPr>
          <a:xfrm>
            <a:off x="3641675" y="3426619"/>
            <a:ext cx="1860500" cy="694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농협 로컬푸드 담당자 | 농업기술원 AI 연구팀장 | 투자사 경영진</a:t>
            </a:r>
            <a:endParaRPr lang="en-US" sz="1140" dirty="0"/>
          </a:p>
        </p:txBody>
      </p:sp>
      <p:sp>
        <p:nvSpPr>
          <p:cNvPr id="16" name="Text 13"/>
          <p:cNvSpPr/>
          <p:nvPr/>
        </p:nvSpPr>
        <p:spPr>
          <a:xfrm>
            <a:off x="6359426" y="1582936"/>
            <a:ext cx="186064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21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 역량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6359426" y="2116336"/>
            <a:ext cx="1860649" cy="155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농업 정책 이해도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기술 개발 경험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마켓플레이스 운영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투자자 네트워크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304627"/>
            <a:ext cx="3848100" cy="1625203"/>
          </a:xfrm>
          <a:prstGeom prst="roundRect">
            <a:avLst>
              <a:gd name="adj" fmla="val 67516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686300" y="1304627"/>
            <a:ext cx="3848100" cy="1625203"/>
          </a:xfrm>
          <a:prstGeom prst="roundRect">
            <a:avLst>
              <a:gd name="adj" fmla="val 67516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09600" y="3158430"/>
            <a:ext cx="3848100" cy="1625203"/>
          </a:xfrm>
          <a:prstGeom prst="roundRect">
            <a:avLst>
              <a:gd name="adj" fmla="val 67516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686300" y="3158430"/>
            <a:ext cx="3848100" cy="1625203"/>
          </a:xfrm>
          <a:prstGeom prst="roundRect">
            <a:avLst>
              <a:gd name="adj" fmla="val 67516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09600" y="359866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리스크 및 대응책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923925" y="1618952"/>
            <a:ext cx="3219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🔴 인증 안정성 리스크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923925" y="2152352"/>
            <a:ext cx="3219450" cy="463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대응:</a:t>
            </a:r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POLICY-001 엄격 적용 + 현장 확인 100% + AI 모니터링</a:t>
            </a:r>
            <a:endParaRPr lang="en-US" sz="1140" dirty="0"/>
          </a:p>
        </p:txBody>
      </p:sp>
      <p:sp>
        <p:nvSpPr>
          <p:cNvPr id="10" name="Text 7"/>
          <p:cNvSpPr/>
          <p:nvPr/>
        </p:nvSpPr>
        <p:spPr>
          <a:xfrm>
            <a:off x="5000625" y="1618952"/>
            <a:ext cx="3219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🔴 배송 신뢰성 리스크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5000625" y="2152352"/>
            <a:ext cx="3283839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대응:</a:t>
            </a:r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전문 배송사 계약 + 콜드체인 + 100% 환불 약속</a:t>
            </a:r>
            <a:endParaRPr lang="en-US" sz="1140" dirty="0"/>
          </a:p>
        </p:txBody>
      </p:sp>
      <p:sp>
        <p:nvSpPr>
          <p:cNvPr id="12" name="Text 9"/>
          <p:cNvSpPr/>
          <p:nvPr/>
        </p:nvSpPr>
        <p:spPr>
          <a:xfrm>
            <a:off x="923925" y="3472755"/>
            <a:ext cx="3219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🟠 법적 규제 리스키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23925" y="4006155"/>
            <a:ext cx="3219450" cy="463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대응:</a:t>
            </a:r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법무팀 전담 + 자동 원산지 표시 + 월 1회 컴플라이언스</a:t>
            </a:r>
            <a:endParaRPr lang="en-US" sz="1140" dirty="0"/>
          </a:p>
        </p:txBody>
      </p:sp>
      <p:sp>
        <p:nvSpPr>
          <p:cNvPr id="14" name="Text 11"/>
          <p:cNvSpPr/>
          <p:nvPr/>
        </p:nvSpPr>
        <p:spPr>
          <a:xfrm>
            <a:off x="5000625" y="3472755"/>
            <a:ext cx="3219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🟠 경쟁사 진입 위험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5000625" y="4006155"/>
            <a:ext cx="3219450" cy="463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대응:</a:t>
            </a:r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초기 시장 선점 + 생산자 전속계약 + 정기구독 확보</a:t>
            </a:r>
            <a:endParaRPr lang="en-US" sz="11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637856" y="685800"/>
            <a:ext cx="386828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함께 시작합니다</a:t>
            </a:r>
            <a:endParaRPr lang="en-US" sz="4500" dirty="0"/>
          </a:p>
        </p:txBody>
      </p:sp>
      <p:sp>
        <p:nvSpPr>
          <p:cNvPr id="4" name="Text 1"/>
          <p:cNvSpPr/>
          <p:nvPr/>
        </p:nvSpPr>
        <p:spPr>
          <a:xfrm>
            <a:off x="3247430" y="1828800"/>
            <a:ext cx="2648992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생산자와 소비자를 연결하는</a:t>
            </a:r>
            <a:endParaRPr lang="en-US" sz="1800" dirty="0"/>
          </a:p>
          <a:p>
            <a:pPr algn="ctr" indent="0" marL="0">
              <a:lnSpc>
                <a:spcPts val="16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투명한 농산물 직거래 혁명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070324" y="2952750"/>
            <a:ext cx="30032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투자 문의:</a:t>
            </a:r>
            <a:pPr algn="ctr"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team@eodisan.kr | 010-1234-5678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070324" y="3181350"/>
            <a:ext cx="30032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피칭 자료:</a:t>
            </a:r>
            <a:pPr algn="ctr"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eodisan.kr/pitch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649266" y="4019550"/>
            <a:ext cx="184532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🌾 어디산 🌾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2026-01-29T02:47:31Z</dcterms:created>
  <dcterms:modified xsi:type="dcterms:W3CDTF">2026-01-29T02:47:31Z</dcterms:modified>
</cp:coreProperties>
</file>